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6" r:id="rId9"/>
    <p:sldId id="264" r:id="rId10"/>
    <p:sldId id="276" r:id="rId11"/>
    <p:sldId id="270" r:id="rId12"/>
    <p:sldId id="278" r:id="rId13"/>
    <p:sldId id="27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النمط المتوسط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259" autoAdjust="0"/>
  </p:normalViewPr>
  <p:slideViewPr>
    <p:cSldViewPr snapToGrid="0" snapToObjects="1">
      <p:cViewPr varScale="1">
        <p:scale>
          <a:sx n="90" d="100"/>
          <a:sy n="90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8142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65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1411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615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hyperlink" Target="#AD_REQ04"/><Relationship Id="rId18" Type="http://schemas.openxmlformats.org/officeDocument/2006/relationships/hyperlink" Target="#SPEC_REQ06"/><Relationship Id="rId26" Type="http://schemas.openxmlformats.org/officeDocument/2006/relationships/hyperlink" Target="#SD_REQ08"/><Relationship Id="rId39" Type="http://schemas.openxmlformats.org/officeDocument/2006/relationships/hyperlink" Target="#SPEC_REQ13"/><Relationship Id="rId21" Type="http://schemas.openxmlformats.org/officeDocument/2006/relationships/hyperlink" Target="#SPEC_REQ07"/><Relationship Id="rId34" Type="http://schemas.openxmlformats.org/officeDocument/2006/relationships/hyperlink" Target="#AD_REQ11"/><Relationship Id="rId42" Type="http://schemas.openxmlformats.org/officeDocument/2006/relationships/hyperlink" Target="#SPEC_REQ14"/><Relationship Id="rId47" Type="http://schemas.openxmlformats.org/officeDocument/2006/relationships/hyperlink" Target="#SD_REQ15"/><Relationship Id="rId50" Type="http://schemas.openxmlformats.org/officeDocument/2006/relationships/hyperlink" Target="#SD_REQ16"/><Relationship Id="rId55" Type="http://schemas.openxmlformats.org/officeDocument/2006/relationships/hyperlink" Target="#AD_REQ18"/><Relationship Id="rId7" Type="http://schemas.openxmlformats.org/officeDocument/2006/relationships/hyperlink" Target="#AD_REQ02"/><Relationship Id="rId2" Type="http://schemas.openxmlformats.org/officeDocument/2006/relationships/notesSlide" Target="../notesSlides/notesSlide10.xml"/><Relationship Id="rId16" Type="http://schemas.openxmlformats.org/officeDocument/2006/relationships/hyperlink" Target="#AD_REQ05"/><Relationship Id="rId29" Type="http://schemas.openxmlformats.org/officeDocument/2006/relationships/hyperlink" Target="#SD_REQ09"/><Relationship Id="rId11" Type="http://schemas.openxmlformats.org/officeDocument/2006/relationships/hyperlink" Target="#SD_REQ03"/><Relationship Id="rId24" Type="http://schemas.openxmlformats.org/officeDocument/2006/relationships/hyperlink" Target="#SPEC_REQ08"/><Relationship Id="rId32" Type="http://schemas.openxmlformats.org/officeDocument/2006/relationships/hyperlink" Target="#SD_REQ10"/><Relationship Id="rId37" Type="http://schemas.openxmlformats.org/officeDocument/2006/relationships/hyperlink" Target="#AD_REQ12"/><Relationship Id="rId40" Type="http://schemas.openxmlformats.org/officeDocument/2006/relationships/hyperlink" Target="#AD_REQ13"/><Relationship Id="rId45" Type="http://schemas.openxmlformats.org/officeDocument/2006/relationships/hyperlink" Target="#SPEC_REQ15"/><Relationship Id="rId53" Type="http://schemas.openxmlformats.org/officeDocument/2006/relationships/hyperlink" Target="#SD_REQ17"/><Relationship Id="rId5" Type="http://schemas.openxmlformats.org/officeDocument/2006/relationships/hyperlink" Target="#SD_REQ01"/><Relationship Id="rId10" Type="http://schemas.openxmlformats.org/officeDocument/2006/relationships/hyperlink" Target="#AD_REQ03"/><Relationship Id="rId19" Type="http://schemas.openxmlformats.org/officeDocument/2006/relationships/hyperlink" Target="#AD_REQ06"/><Relationship Id="rId31" Type="http://schemas.openxmlformats.org/officeDocument/2006/relationships/hyperlink" Target="#AD_REQ10"/><Relationship Id="rId44" Type="http://schemas.openxmlformats.org/officeDocument/2006/relationships/hyperlink" Target="#SD_REQ14"/><Relationship Id="rId52" Type="http://schemas.openxmlformats.org/officeDocument/2006/relationships/hyperlink" Target="#AD_REQ17"/><Relationship Id="rId4" Type="http://schemas.openxmlformats.org/officeDocument/2006/relationships/hyperlink" Target="#AD_REQ01"/><Relationship Id="rId9" Type="http://schemas.openxmlformats.org/officeDocument/2006/relationships/hyperlink" Target="#SPEC_REQ03"/><Relationship Id="rId14" Type="http://schemas.openxmlformats.org/officeDocument/2006/relationships/hyperlink" Target="#SD_REQ04"/><Relationship Id="rId22" Type="http://schemas.openxmlformats.org/officeDocument/2006/relationships/hyperlink" Target="#AD_REQ07"/><Relationship Id="rId27" Type="http://schemas.openxmlformats.org/officeDocument/2006/relationships/hyperlink" Target="#SPEC_REQ09"/><Relationship Id="rId30" Type="http://schemas.openxmlformats.org/officeDocument/2006/relationships/hyperlink" Target="#SPEC_REQ10"/><Relationship Id="rId35" Type="http://schemas.openxmlformats.org/officeDocument/2006/relationships/hyperlink" Target="#SD_REQ11"/><Relationship Id="rId43" Type="http://schemas.openxmlformats.org/officeDocument/2006/relationships/hyperlink" Target="#AD_REQ14"/><Relationship Id="rId48" Type="http://schemas.openxmlformats.org/officeDocument/2006/relationships/hyperlink" Target="#SPEC_REQ16"/><Relationship Id="rId56" Type="http://schemas.openxmlformats.org/officeDocument/2006/relationships/hyperlink" Target="#SD_REQ18"/><Relationship Id="rId8" Type="http://schemas.openxmlformats.org/officeDocument/2006/relationships/hyperlink" Target="#SD_REQ02"/><Relationship Id="rId51" Type="http://schemas.openxmlformats.org/officeDocument/2006/relationships/hyperlink" Target="#SPEC_REQ17"/><Relationship Id="rId3" Type="http://schemas.openxmlformats.org/officeDocument/2006/relationships/hyperlink" Target="#SPEC_REQ01"/><Relationship Id="rId12" Type="http://schemas.openxmlformats.org/officeDocument/2006/relationships/hyperlink" Target="#SPEC_REQ04"/><Relationship Id="rId17" Type="http://schemas.openxmlformats.org/officeDocument/2006/relationships/hyperlink" Target="#SD_REQ05"/><Relationship Id="rId25" Type="http://schemas.openxmlformats.org/officeDocument/2006/relationships/hyperlink" Target="#AD_REQ08"/><Relationship Id="rId33" Type="http://schemas.openxmlformats.org/officeDocument/2006/relationships/hyperlink" Target="#SPEC_REQ11"/><Relationship Id="rId38" Type="http://schemas.openxmlformats.org/officeDocument/2006/relationships/hyperlink" Target="#SD_REQ12"/><Relationship Id="rId46" Type="http://schemas.openxmlformats.org/officeDocument/2006/relationships/hyperlink" Target="#AD_REQ15"/><Relationship Id="rId20" Type="http://schemas.openxmlformats.org/officeDocument/2006/relationships/hyperlink" Target="#SD_REQ06"/><Relationship Id="rId41" Type="http://schemas.openxmlformats.org/officeDocument/2006/relationships/hyperlink" Target="#SD_REQ13"/><Relationship Id="rId54" Type="http://schemas.openxmlformats.org/officeDocument/2006/relationships/hyperlink" Target="#SPEC_REQ18"/><Relationship Id="rId1" Type="http://schemas.openxmlformats.org/officeDocument/2006/relationships/slideLayout" Target="../slideLayouts/slideLayout1.xml"/><Relationship Id="rId6" Type="http://schemas.openxmlformats.org/officeDocument/2006/relationships/hyperlink" Target="#SPEC_REQ02"/><Relationship Id="rId15" Type="http://schemas.openxmlformats.org/officeDocument/2006/relationships/hyperlink" Target="#SPEC_REQ05"/><Relationship Id="rId23" Type="http://schemas.openxmlformats.org/officeDocument/2006/relationships/hyperlink" Target="#SD_REQ07"/><Relationship Id="rId28" Type="http://schemas.openxmlformats.org/officeDocument/2006/relationships/hyperlink" Target="#AD_REQ09"/><Relationship Id="rId36" Type="http://schemas.openxmlformats.org/officeDocument/2006/relationships/hyperlink" Target="#SPEC_REQ12"/><Relationship Id="rId49" Type="http://schemas.openxmlformats.org/officeDocument/2006/relationships/hyperlink" Target="#AD_REQ16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3657600"/>
            <a:ext cx="1463040" cy="1463040"/>
          </a:xfrm>
          <a:prstGeom prst="ellipse">
            <a:avLst/>
          </a:prstGeom>
          <a:solidFill>
            <a:srgbClr val="818CF8">
              <a:alpha val="40000"/>
            </a:srgbClr>
          </a:solidFill>
          <a:ln w="12700">
            <a:solidFill>
              <a:srgbClr val="818CF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560320" y="-365760"/>
            <a:ext cx="1097280" cy="1097280"/>
          </a:xfrm>
          <a:prstGeom prst="ellipse">
            <a:avLst/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4572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System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9260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منصة تواصل اجتماعي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3364992"/>
            <a:ext cx="1097280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3493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4206240" cy="3474720"/>
          </a:xfrm>
          <a:prstGeom prst="rect">
            <a:avLst/>
          </a:prstGeom>
          <a:solidFill>
            <a:srgbClr val="16146B"/>
          </a:solidFill>
          <a:ln w="12700">
            <a:solidFill>
              <a:srgbClr val="4F4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ar-SA" dirty="0"/>
          </a:p>
        </p:txBody>
      </p:sp>
      <p:sp>
        <p:nvSpPr>
          <p:cNvPr id="11" name="Text 9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r-SA" sz="1300" b="1" dirty="0">
                <a:solidFill>
                  <a:srgbClr val="818CF8"/>
                </a:solidFill>
                <a:latin typeface="Calibri" pitchFamily="34" charset="0"/>
                <a:cs typeface="Calibri" pitchFamily="34" charset="-120"/>
              </a:rPr>
              <a:t>إعداد: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مجد محمد فارس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تميم جمول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2057400"/>
            <a:ext cx="3657600" cy="182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r-SA" sz="1300" b="1" dirty="0">
                <a:solidFill>
                  <a:srgbClr val="818CF8"/>
                </a:solidFill>
                <a:latin typeface="Calibri" pitchFamily="34" charset="0"/>
                <a:cs typeface="Calibri" pitchFamily="34" charset="-120"/>
              </a:rPr>
              <a:t>إشراف: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523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شادي بليدي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2926080"/>
            <a:ext cx="3657600" cy="182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الجامعة السورية الخاصة  •  2025–2026</a:t>
            </a: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2107A"/>
          </a:solidFill>
          <a:ln w="12700">
            <a:solidFill>
              <a:srgbClr val="1210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of Artificial Intelligence Engineering  •  Syrian Private University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4495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المقدمة والملخص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&amp; Introduction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274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4114800" cy="1691640"/>
          </a:xfrm>
          <a:prstGeom prst="rect">
            <a:avLst/>
          </a:prstGeom>
          <a:solidFill>
            <a:srgbClr val="F8F7FF"/>
          </a:solidFill>
          <a:ln w="12700">
            <a:solidFill>
              <a:srgbClr val="818C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411480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2252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المشكلة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0352" y="16093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/>
              <a:t> </a:t>
            </a:r>
            <a:r>
              <a:rPr lang="ar-SA" sz="1100" dirty="0"/>
              <a:t> او قاعدة بيانات متكاملة</a:t>
            </a:r>
            <a:r>
              <a:rPr lang="en-US" sz="1100" dirty="0"/>
              <a:t>frontend </a:t>
            </a:r>
            <a:r>
              <a:rPr lang="ar-SA" sz="1100" dirty="0"/>
              <a:t> دون</a:t>
            </a:r>
            <a:r>
              <a:rPr lang="en-US" sz="1100" dirty="0"/>
              <a:t>Backend</a:t>
            </a:r>
            <a:r>
              <a:rPr lang="ar-SA" sz="1100" dirty="0"/>
              <a:t>المشاريع البرمجية تركز على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1728" y="1217308"/>
            <a:ext cx="4114800" cy="1691640"/>
          </a:xfrm>
          <a:prstGeom prst="rect">
            <a:avLst/>
          </a:prstGeom>
          <a:solidFill>
            <a:srgbClr val="F8F7FF"/>
          </a:solidFill>
          <a:ln w="12700">
            <a:solidFill>
              <a:srgbClr val="818C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411480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2252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الفكرة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63886" y="1833221"/>
            <a:ext cx="3704626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r-SA" sz="1100" dirty="0"/>
              <a:t> كأمثلة تحاكي التطبيقات العالمية </a:t>
            </a:r>
            <a:r>
              <a:rPr lang="en-US" sz="1100" dirty="0"/>
              <a:t>Full-stack </a:t>
            </a:r>
            <a:r>
              <a:rPr lang="ar-SA" sz="1100" dirty="0"/>
              <a:t>بناء منصة </a:t>
            </a:r>
            <a:r>
              <a:rPr lang="ar-SA" sz="1100" dirty="0" err="1"/>
              <a:t>سوشال</a:t>
            </a:r>
            <a:r>
              <a:rPr lang="ar-SA" sz="1100" dirty="0"/>
              <a:t> ميديا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36128"/>
            <a:ext cx="4114800" cy="1691640"/>
          </a:xfrm>
          <a:prstGeom prst="rect">
            <a:avLst/>
          </a:prstGeom>
          <a:solidFill>
            <a:srgbClr val="F8F7FF"/>
          </a:solidFill>
          <a:ln w="12700">
            <a:solidFill>
              <a:srgbClr val="818C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411480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54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الحل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352" y="34381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r-SA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:نظام</a:t>
            </a: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Node.js + </a:t>
            </a:r>
            <a:r>
              <a:rPr lang="en-US" sz="11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</a:t>
            </a:r>
            <a:endParaRPr lang="en-US" sz="11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ar-SA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يدعم حسابات ومنشورات و تعليقات و صداقات</a:t>
            </a:r>
            <a:endParaRPr lang="en-US" sz="11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926080"/>
            <a:ext cx="4114800" cy="1691640"/>
          </a:xfrm>
          <a:prstGeom prst="rect">
            <a:avLst/>
          </a:prstGeom>
          <a:solidFill>
            <a:srgbClr val="F8F7FF"/>
          </a:solidFill>
          <a:ln w="12700">
            <a:solidFill>
              <a:srgbClr val="818C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926080"/>
            <a:ext cx="411480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05409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النتيجة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9472" y="3438144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تجربة مستخدم واقعية وقابلة للتطوير تجمع الواجهتين الأمامية والخلفية مع قاعدة البيانات</a:t>
            </a:r>
            <a:endParaRPr lang="en-US" sz="1100" dirty="0"/>
          </a:p>
        </p:txBody>
      </p:sp>
      <p:sp>
        <p:nvSpPr>
          <p:cNvPr id="28" name="مربع نص 27">
            <a:extLst>
              <a:ext uri="{FF2B5EF4-FFF2-40B4-BE49-F238E27FC236}">
                <a16:creationId xmlns:a16="http://schemas.microsoft.com/office/drawing/2014/main" id="{941E3231-5271-4D90-B1D3-63FACFC6BF7B}"/>
              </a:ext>
            </a:extLst>
          </p:cNvPr>
          <p:cNvSpPr txBox="1"/>
          <p:nvPr/>
        </p:nvSpPr>
        <p:spPr>
          <a:xfrm>
            <a:off x="6457875" y="1992273"/>
            <a:ext cx="2210637" cy="4308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ar-SA" sz="1100" dirty="0"/>
              <a:t>و تطبق مفاهيم هندسة البرمجيات</a:t>
            </a:r>
          </a:p>
          <a:p>
            <a:endParaRPr lang="ar-SA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المشكلة والأهداف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274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3931920" cy="1828800"/>
          </a:xfrm>
          <a:prstGeom prst="rect">
            <a:avLst/>
          </a:prstGeom>
          <a:solidFill>
            <a:srgbClr val="FFF1F2"/>
          </a:solidFill>
          <a:ln w="12700">
            <a:solidFill>
              <a:srgbClr val="FB718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3931920" cy="73152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20700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المشكلة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572768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ع</a:t>
            </a:r>
            <a:r>
              <a:rPr lang="ar-SA" sz="1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دم تخزين البيانات بشكل دائم</a:t>
            </a:r>
            <a:r>
              <a:rPr lang="en-US" sz="1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 </a:t>
            </a:r>
            <a:r>
              <a:rPr lang="ar-SA" sz="1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صعوبة التعامل مع التفاعلات الواقعية</a:t>
            </a:r>
            <a:r>
              <a:rPr lang="en-US" sz="1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•</a:t>
            </a:r>
            <a:r>
              <a:rPr lang="ar-SA" sz="1100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غياب ميزات متقدمة في المشاريع التعليمية 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1828800"/>
          </a:xfrm>
          <a:prstGeom prst="rect">
            <a:avLst/>
          </a:prstGeom>
          <a:solidFill>
            <a:srgbClr val="F0FDF4"/>
          </a:solidFill>
          <a:ln w="12700">
            <a:solidFill>
              <a:srgbClr val="4ADE8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097280"/>
            <a:ext cx="411480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20700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الهدف الرئيسي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572768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Full-Stack </a:t>
            </a:r>
            <a:r>
              <a:rPr lang="ar-SA" sz="1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تطوير منصة تواصل اجتماعي تعليمية تعتمد على بنية</a:t>
            </a:r>
          </a:p>
          <a:p>
            <a:endParaRPr lang="ar-SA" sz="1100" dirty="0">
              <a:latin typeface="Calibri Light" panose="020F03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ar-SA" sz="1100" dirty="0"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r>
              <a:rPr lang="en-US" sz="1100" dirty="0"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Frontend)</a:t>
            </a:r>
            <a:r>
              <a:rPr lang="ar-SA" sz="1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حيث يتم دمج الواجهة الأمامية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وقاعدة البيانات لتكوين نظام متكامل</a:t>
            </a:r>
            <a:r>
              <a:rPr lang="en-US" sz="1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(Backend)</a:t>
            </a:r>
            <a:r>
              <a:rPr lang="ar-SA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ar-SA" sz="11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مع الواجهة الخلفية </a:t>
            </a:r>
          </a:p>
        </p:txBody>
      </p:sp>
      <p:sp>
        <p:nvSpPr>
          <p:cNvPr id="15" name="Text 13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cs typeface="Calibri" pitchFamily="34" charset="-120"/>
              </a:rPr>
              <a:t>(Smart) </a:t>
            </a:r>
            <a:r>
              <a:rPr lang="ar-SA" sz="1300" b="1" dirty="0">
                <a:solidFill>
                  <a:srgbClr val="1E1B4B"/>
                </a:solidFill>
                <a:latin typeface="Calibri" pitchFamily="34" charset="0"/>
                <a:cs typeface="Calibri" pitchFamily="34" charset="-120"/>
              </a:rPr>
              <a:t>الأهداف الفرعية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3456432"/>
            <a:ext cx="393192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تطبيق Full-Stack Development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456432"/>
            <a:ext cx="393192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35478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إدارة بيانات المستخدمين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069080"/>
            <a:ext cx="393192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تفاعلات حقيقية بين المستخدمين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4069080"/>
            <a:ext cx="3931920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نظام قابل للتوسع مستقبلاً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الدراسة المرجعية وفجوة البحث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&amp; Research Gap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274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560320" cy="411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521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النظام / Platform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44368" y="1097280"/>
            <a:ext cx="3474720" cy="411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152144"/>
            <a:ext cx="3383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الميزات الرئيسية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37376" y="1097280"/>
            <a:ext cx="2560320" cy="41148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0528" y="1152144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القيد / الفجوة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27048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57276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44368" y="1527048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35808" y="1572768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حسابات، منشورات، خوارزميات ذكية، بث مباشر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37376" y="1527048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8816" y="1572768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بنية تقنية معقدة — غير مناسب أكاديمياً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2185416"/>
            <a:ext cx="256032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2311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44368" y="2185416"/>
            <a:ext cx="347472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2231136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صور، فيديوهات، Stories، Reels,</a:t>
            </a:r>
            <a:r>
              <a:rPr lang="ar-SA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محتوى</a:t>
            </a:r>
            <a:endParaRPr lang="en-US" sz="105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437376" y="2185416"/>
            <a:ext cx="2560320" cy="621792"/>
          </a:xfrm>
          <a:prstGeom prst="rect">
            <a:avLst/>
          </a:prstGeom>
          <a:solidFill>
            <a:srgbClr val="FAFAFA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28816" y="22311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2843784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8950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مشاريع GitHub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944368" y="2843784"/>
            <a:ext cx="3474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66198" y="2889504"/>
            <a:ext cx="3007169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r-SA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غالبا بدون خادم حقيقي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37376" y="2843784"/>
            <a:ext cx="25603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28816" y="2889504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لا قاعدة بيانات — لا تفاعل واقعي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3502152"/>
            <a:ext cx="2560320" cy="621792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5478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Pingup (مشروعنا)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44368" y="3502152"/>
            <a:ext cx="3474720" cy="621792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35808" y="3547872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Full-Stack: React + Node.js + MongoDB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37376" y="3502152"/>
            <a:ext cx="2560320" cy="621792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28816" y="3547872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يملأ الفجوة: نظام تعليمي متكامل وقابل للتوسع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" y="4297680"/>
            <a:ext cx="8412480" cy="640080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المنهجية وخطة المشروع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Methodology &amp; Gantt Chart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274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3200400" cy="1188720"/>
          </a:xfrm>
          <a:prstGeom prst="rect">
            <a:avLst/>
          </a:prstGeom>
          <a:solidFill>
            <a:srgbClr val="EEF2FF"/>
          </a:solidFill>
          <a:ln w="12700">
            <a:solidFill>
              <a:srgbClr val="4F4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2070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Agile Methodology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72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تطوير تدريجي مرن عبر مراحل متعاقبة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749040" y="1097280"/>
            <a:ext cx="3200400" cy="1188720"/>
          </a:xfrm>
          <a:prstGeom prst="rect">
            <a:avLst/>
          </a:prstGeom>
          <a:solidFill>
            <a:srgbClr val="EEF2FF"/>
          </a:solidFill>
          <a:ln w="12700">
            <a:solidFill>
              <a:srgbClr val="818C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0" y="12070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أدوات الإدارة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31920" y="157276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•  Trello  •  Discord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0" y="1097280"/>
            <a:ext cx="1645920" cy="11887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223760" y="1170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223760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أسبوع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2230" y="-36363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متطلبات النظام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2230" y="3017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</a:rPr>
              <a:t>Junior project requirements</a:t>
            </a:r>
          </a:p>
        </p:txBody>
      </p:sp>
      <p:sp>
        <p:nvSpPr>
          <p:cNvPr id="20" name="Shape 18"/>
          <p:cNvSpPr/>
          <p:nvPr/>
        </p:nvSpPr>
        <p:spPr>
          <a:xfrm>
            <a:off x="4709160" y="1097280"/>
            <a:ext cx="4069080" cy="3794760"/>
          </a:xfrm>
          <a:prstGeom prst="rect">
            <a:avLst/>
          </a:prstGeom>
          <a:solidFill>
            <a:srgbClr val="F8F7FF"/>
          </a:solidFill>
          <a:ln w="12700">
            <a:solidFill>
              <a:srgbClr val="818C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97280"/>
            <a:ext cx="40690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5214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المتطلبات غير الوظيفية  (NFR)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28032" y="1645920"/>
            <a:ext cx="374904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BAE6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56048" y="1709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الأداء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7099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تحميل الصفحة خلال ثوانٍ محددة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8032" y="2249424"/>
            <a:ext cx="374904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BAE6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6048" y="2313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الاعتمادية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3134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متاح 99% من الوقت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28032" y="2852928"/>
            <a:ext cx="374904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BAE6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56048" y="29169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الأمان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9169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تشفير BCRYPT + HTTPS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28032" y="3456432"/>
            <a:ext cx="374904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BAE6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56048" y="3520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قابلية التوسع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520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يتعامل مع زيادة المستخدمين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28032" y="4059936"/>
            <a:ext cx="374904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BAE6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56048" y="41239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التوافق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41239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يعمل على المتصفحات الحديثة</a:t>
            </a:r>
            <a:endParaRPr lang="en-US" sz="1050" dirty="0"/>
          </a:p>
        </p:txBody>
      </p:sp>
      <p:graphicFrame>
        <p:nvGraphicFramePr>
          <p:cNvPr id="10" name="جدول 10">
            <a:extLst>
              <a:ext uri="{FF2B5EF4-FFF2-40B4-BE49-F238E27FC236}">
                <a16:creationId xmlns:a16="http://schemas.microsoft.com/office/drawing/2014/main" id="{AEC3E3E2-DA6A-4072-A646-AAC4FDBCB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206855"/>
              </p:ext>
            </p:extLst>
          </p:nvPr>
        </p:nvGraphicFramePr>
        <p:xfrm>
          <a:off x="239654" y="713445"/>
          <a:ext cx="4232612" cy="43891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116306">
                  <a:extLst>
                    <a:ext uri="{9D8B030D-6E8A-4147-A177-3AD203B41FA5}">
                      <a16:colId xmlns:a16="http://schemas.microsoft.com/office/drawing/2014/main" val="561777274"/>
                    </a:ext>
                  </a:extLst>
                </a:gridCol>
                <a:gridCol w="2116306">
                  <a:extLst>
                    <a:ext uri="{9D8B030D-6E8A-4147-A177-3AD203B41FA5}">
                      <a16:colId xmlns:a16="http://schemas.microsoft.com/office/drawing/2014/main" val="833959255"/>
                    </a:ext>
                  </a:extLst>
                </a:gridCol>
              </a:tblGrid>
              <a:tr h="271728">
                <a:tc>
                  <a:txBody>
                    <a:bodyPr/>
                    <a:lstStyle/>
                    <a:p>
                      <a:pPr rtl="1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Requirements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Requirements ID</a:t>
                      </a:r>
                      <a:endParaRPr lang="ar-SA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03063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تسجيل مستخدم جديد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900" dirty="0"/>
                        <a:t>REQ01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366509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تسجيل الدخول الى النظام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900" dirty="0"/>
                        <a:t>REQ02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151286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تسجيل الخروج من النظام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900" dirty="0"/>
                        <a:t>REQ03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479842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عرض الملف الشخصي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REQ04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681146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تعديل الملف الشخصي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REQ05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071924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رفع صورة الملف الشخصي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REQ06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101660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إنشاء منشور جديد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REQ07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012060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تعديل المنشورات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REQ08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814480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عرض المنشورات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REQ09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252694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الإعجاب بالمنشورات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REQ10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433683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إضافة تعليق على المنشورات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REQ11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002221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حذف التعليقات الخاصة بالمستخدم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REQ12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34006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إرسال طلب صداقة</a:t>
                      </a:r>
                      <a:endParaRPr lang="ar-SA" sz="9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REQ13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727248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قبول أو رفض طلب الصداقة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REQ14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774629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عرض قائمة الأصدقاء</a:t>
                      </a:r>
                      <a:endParaRPr lang="ar-SA" sz="9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REQ15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745789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البحث عن المستخدمين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REQ16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020745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حذف المنشورات الخاصة بالمستخدم</a:t>
                      </a:r>
                      <a:endParaRPr lang="ar-SA" sz="9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REQ17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528419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عرض الملف الشخصي للمستخدمين الآخرين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REQ18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2053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</a:t>
            </a:r>
            <a:r>
              <a:rPr lang="ar-SA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مخططات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 — Use Case &amp; Sequence&amp; Activity</a:t>
            </a:r>
            <a:endParaRPr lang="en-US" sz="1200" dirty="0"/>
          </a:p>
        </p:txBody>
      </p:sp>
      <p:sp>
        <p:nvSpPr>
          <p:cNvPr id="39" name="مربع نص 38">
            <a:extLst>
              <a:ext uri="{FF2B5EF4-FFF2-40B4-BE49-F238E27FC236}">
                <a16:creationId xmlns:a16="http://schemas.microsoft.com/office/drawing/2014/main" id="{3F61AF93-9FF8-42CB-8D50-ADD37927A23F}"/>
              </a:ext>
            </a:extLst>
          </p:cNvPr>
          <p:cNvSpPr txBox="1"/>
          <p:nvPr/>
        </p:nvSpPr>
        <p:spPr>
          <a:xfrm>
            <a:off x="310393" y="1069848"/>
            <a:ext cx="8687805" cy="424731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8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 Case Diagram: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0" name="صورة 39">
            <a:extLst>
              <a:ext uri="{FF2B5EF4-FFF2-40B4-BE49-F238E27FC236}">
                <a16:creationId xmlns:a16="http://schemas.microsoft.com/office/drawing/2014/main" id="{E636E51A-3965-424E-8CA4-A0E0A8F46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972" y="306420"/>
            <a:ext cx="5274310" cy="40609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التقنيات المستخدمة — Stack المشروع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&amp; Implementation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560320" cy="1645920"/>
          </a:xfrm>
          <a:prstGeom prst="rect">
            <a:avLst/>
          </a:prstGeom>
          <a:solidFill>
            <a:srgbClr val="16146B"/>
          </a:solidFill>
          <a:ln w="19050">
            <a:solidFill>
              <a:srgbClr val="818CF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256032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Frontend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19293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مكونات تفاعلية قابلة لإعادة الاستخدام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1051560"/>
            <a:ext cx="2560320" cy="1645920"/>
          </a:xfrm>
          <a:prstGeom prst="rect">
            <a:avLst/>
          </a:prstGeom>
          <a:solidFill>
            <a:srgbClr val="16146B"/>
          </a:solidFill>
          <a:ln w="19050">
            <a:solidFill>
              <a:srgbClr val="38BDF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051560"/>
            <a:ext cx="256032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Styling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91840" y="19293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تصميم سريع وواجهة جميلة ومتجاوبة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051560"/>
            <a:ext cx="2560320" cy="1645920"/>
          </a:xfrm>
          <a:prstGeom prst="rect">
            <a:avLst/>
          </a:prstGeom>
          <a:solidFill>
            <a:srgbClr val="16146B"/>
          </a:solidFill>
          <a:ln w="19050">
            <a:solidFill>
              <a:srgbClr val="4ADE80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0" y="1051560"/>
            <a:ext cx="2560320" cy="6400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Backend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080760" y="14904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080760" y="192938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خادم قوي لمعالجة الطلبات وإنشاء API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2560320" cy="1645920"/>
          </a:xfrm>
          <a:prstGeom prst="rect">
            <a:avLst/>
          </a:prstGeom>
          <a:solidFill>
            <a:srgbClr val="16146B"/>
          </a:solidFill>
          <a:ln w="19050">
            <a:solidFill>
              <a:srgbClr val="FCD34D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34640"/>
            <a:ext cx="2560320" cy="6400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2944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32735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2920" y="371246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</a:t>
            </a:r>
            <a:r>
              <a:rPr lang="en-US" sz="1000" dirty="0" err="1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ar-SA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قاعدة بيانات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2834640"/>
            <a:ext cx="2560320" cy="1645920"/>
          </a:xfrm>
          <a:prstGeom prst="rect">
            <a:avLst/>
          </a:prstGeom>
          <a:solidFill>
            <a:srgbClr val="16146B"/>
          </a:solidFill>
          <a:ln w="19050">
            <a:solidFill>
              <a:srgbClr val="F472B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54680" y="2834640"/>
            <a:ext cx="2560320" cy="64008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944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2735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91840" y="371246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هويات آمنة وتسجيل دخول احترافي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43600" y="2834640"/>
            <a:ext cx="2560320" cy="1645920"/>
          </a:xfrm>
          <a:prstGeom prst="rect">
            <a:avLst/>
          </a:prstGeom>
          <a:solidFill>
            <a:srgbClr val="16146B"/>
          </a:solidFill>
          <a:ln w="19050">
            <a:solidFill>
              <a:srgbClr val="FB923C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943600" y="2834640"/>
            <a:ext cx="256032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80760" y="2944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Media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80760" y="327355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ImageKit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80760" y="371246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رفع وضغط وتخزين الصور بكفاءة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2107A"/>
          </a:solidFill>
          <a:ln w="12700">
            <a:solidFill>
              <a:srgbClr val="1210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28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(HTML + CSS + JS)  •  Object-Oriented Programming  •  REST API  •  Full-Stack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معمارية النظام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Client-Server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274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71600"/>
            <a:ext cx="1828800" cy="18288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19933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(المستخدم)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194560" y="2194560"/>
            <a:ext cx="548640" cy="914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0280" y="2084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377440" y="1371600"/>
            <a:ext cx="1828800" cy="18288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3774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23160" y="19933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2316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+ Tailwind CSS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06240" y="2194560"/>
            <a:ext cx="548640" cy="914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2084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89120" y="1371600"/>
            <a:ext cx="1828800" cy="18288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8912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434840" y="19933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3484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2194560"/>
            <a:ext cx="548640" cy="914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208483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400800" y="1371600"/>
            <a:ext cx="1828800" cy="1828800"/>
          </a:xfrm>
          <a:prstGeom prst="rect">
            <a:avLst/>
          </a:prstGeom>
          <a:solidFill>
            <a:srgbClr val="3730A3"/>
          </a:solidFill>
          <a:ln w="12700">
            <a:solidFill>
              <a:srgbClr val="3730A3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08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46520" y="1993392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46520" y="23957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(Atlas)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3383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الخدمات الخارجية: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3749040"/>
            <a:ext cx="265176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749040"/>
            <a:ext cx="73152" cy="77724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4151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المصادقة والهويات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00400" y="3749040"/>
            <a:ext cx="265176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0891B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749040"/>
            <a:ext cx="73152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ImageKit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83280" y="4151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تخزين وضغط الصور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35040" y="3749040"/>
            <a:ext cx="2651760" cy="777240"/>
          </a:xfrm>
          <a:prstGeom prst="rect">
            <a:avLst/>
          </a:prstGeom>
          <a:solidFill>
            <a:srgbClr val="EEF2FF"/>
          </a:solidFill>
          <a:ln w="12700">
            <a:solidFill>
              <a:srgbClr val="7C3AE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035040" y="3749040"/>
            <a:ext cx="73152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17920" y="382219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Inngest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17920" y="41513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المهام الخلفية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188729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مصفوفة إمكانية التتبع (RTM)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20624" y="626577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Traceability Matrix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274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100" name="مربع نص 99">
            <a:extLst>
              <a:ext uri="{FF2B5EF4-FFF2-40B4-BE49-F238E27FC236}">
                <a16:creationId xmlns:a16="http://schemas.microsoft.com/office/drawing/2014/main" id="{C35C7A53-B2E6-4D9A-816F-3DA0A8F00530}"/>
              </a:ext>
            </a:extLst>
          </p:cNvPr>
          <p:cNvSpPr txBox="1"/>
          <p:nvPr/>
        </p:nvSpPr>
        <p:spPr>
          <a:xfrm>
            <a:off x="164592" y="1286540"/>
            <a:ext cx="8979408" cy="36933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101" name="جدول 100">
            <a:extLst>
              <a:ext uri="{FF2B5EF4-FFF2-40B4-BE49-F238E27FC236}">
                <a16:creationId xmlns:a16="http://schemas.microsoft.com/office/drawing/2014/main" id="{3EBF1FDA-7C26-4671-BCD5-450D3F47ED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113195"/>
              </p:ext>
            </p:extLst>
          </p:nvPr>
        </p:nvGraphicFramePr>
        <p:xfrm>
          <a:off x="329184" y="1129497"/>
          <a:ext cx="8449055" cy="39865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92945">
                  <a:extLst>
                    <a:ext uri="{9D8B030D-6E8A-4147-A177-3AD203B41FA5}">
                      <a16:colId xmlns:a16="http://schemas.microsoft.com/office/drawing/2014/main" val="1231710007"/>
                    </a:ext>
                  </a:extLst>
                </a:gridCol>
                <a:gridCol w="2888566">
                  <a:extLst>
                    <a:ext uri="{9D8B030D-6E8A-4147-A177-3AD203B41FA5}">
                      <a16:colId xmlns:a16="http://schemas.microsoft.com/office/drawing/2014/main" val="1242679877"/>
                    </a:ext>
                  </a:extLst>
                </a:gridCol>
                <a:gridCol w="1498443">
                  <a:extLst>
                    <a:ext uri="{9D8B030D-6E8A-4147-A177-3AD203B41FA5}">
                      <a16:colId xmlns:a16="http://schemas.microsoft.com/office/drawing/2014/main" val="863097004"/>
                    </a:ext>
                  </a:extLst>
                </a:gridCol>
                <a:gridCol w="1498443">
                  <a:extLst>
                    <a:ext uri="{9D8B030D-6E8A-4147-A177-3AD203B41FA5}">
                      <a16:colId xmlns:a16="http://schemas.microsoft.com/office/drawing/2014/main" val="818100761"/>
                    </a:ext>
                  </a:extLst>
                </a:gridCol>
                <a:gridCol w="1570658">
                  <a:extLst>
                    <a:ext uri="{9D8B030D-6E8A-4147-A177-3AD203B41FA5}">
                      <a16:colId xmlns:a16="http://schemas.microsoft.com/office/drawing/2014/main" val="2237342170"/>
                    </a:ext>
                  </a:extLst>
                </a:gridCol>
              </a:tblGrid>
              <a:tr h="208524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رقم المتطلب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اسم المتطلب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توصيف المتطلب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7125184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REQ01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تسجيل مستخدم جديد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3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4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5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58074063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REQ02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تسجيل الدخول إلى النظام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6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7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8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63996855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>
                          <a:effectLst/>
                        </a:rPr>
                        <a:t>REQ03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تسجيل الخروج من النظام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9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10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11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46541402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REQ04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عرض الملف الشخصي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12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13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14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2665153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REQ05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تعديل الملف الشخصي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15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16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17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5201010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REQ06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رفع صورة الملف الشخصي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18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19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20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5567725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REQ07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dirty="0" err="1">
                          <a:effectLst/>
                        </a:rPr>
                        <a:t>إنشاء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منشور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r>
                        <a:rPr lang="en-US" sz="1000" dirty="0" err="1">
                          <a:effectLst/>
                        </a:rPr>
                        <a:t>جديد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21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22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23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36899783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REQ08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تعديل المنشورات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24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25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26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3088011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REQ09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عرض المنشورات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27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28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29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58115877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REQ10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الإعجاب بالمنشورات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30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31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32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4720567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REQ11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إضافة تعليقات على المنشورات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33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34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35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6279468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REQ12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حذف التعليقات الخاصة بالمستخدم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36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37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38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67012712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REQ13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إرسال طلب صداقة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39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40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41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19338767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REQ14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قبول أو رفض طلب الصداقة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42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43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44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5469461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REQ15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عرض قائمة الأصدقاء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45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46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47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98819746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REQ16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البحث عن المستخدمين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48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49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50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61373272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REQ17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حذف المنشورات الخاصة بالمستخدم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51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52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53" action="ppaction://hlinkfile"/>
                        </a:rPr>
                        <a:t>مخطط التسلسل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04901169"/>
                  </a:ext>
                </a:extLst>
              </a:tr>
              <a:tr h="209892"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REQ18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>
                          <a:effectLst/>
                        </a:rPr>
                        <a:t>عرض الملف الشخصي للمستخدمين الآخرين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54" action="ppaction://hlinkfile"/>
                        </a:rPr>
                        <a:t>الوصف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>
                          <a:effectLst/>
                          <a:hlinkClick r:id="rId55" action="ppaction://hlinkfile"/>
                        </a:rPr>
                        <a:t>مخطط النشاط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US" sz="1000" u="sng" dirty="0" err="1">
                          <a:effectLst/>
                          <a:hlinkClick r:id="rId56" action="ppaction://hlinkfile"/>
                        </a:rPr>
                        <a:t>مخطط</a:t>
                      </a:r>
                      <a:r>
                        <a:rPr lang="en-US" sz="1000" u="sng" dirty="0">
                          <a:effectLst/>
                          <a:hlinkClick r:id="rId56" action="ppaction://hlinkfile"/>
                        </a:rPr>
                        <a:t> </a:t>
                      </a:r>
                      <a:r>
                        <a:rPr lang="en-US" sz="1000" u="sng" dirty="0" err="1">
                          <a:effectLst/>
                          <a:hlinkClick r:id="rId56" action="ppaction://hlinkfile"/>
                        </a:rPr>
                        <a:t>التسلسل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6851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2923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التحليل المقارن وتحقق الأهداف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&amp; Objectives Met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87552"/>
            <a:ext cx="8412480" cy="27432"/>
          </a:xfrm>
          <a:prstGeom prst="rect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97280"/>
            <a:ext cx="219456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0624" y="115214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المعيار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96896" y="1097280"/>
            <a:ext cx="18288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1521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462272" y="1097280"/>
            <a:ext cx="18288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17136" y="11521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27648" y="1097280"/>
            <a:ext cx="2560320" cy="36576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1152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Pingup (مشروعنا)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1490472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5361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إدارة الحسابات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96896" y="1490472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متقدم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62272" y="1490472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17136" y="1536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متقدم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27648" y="1490472"/>
            <a:ext cx="2560320" cy="365760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1536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أساسي + قابل للتطوير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1892808"/>
            <a:ext cx="2194560" cy="36576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0624" y="19385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نشر المحتوى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96896" y="1892808"/>
            <a:ext cx="1828800" cy="36576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كامل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62272" y="1892808"/>
            <a:ext cx="1828800" cy="36576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17136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صور+فيديو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27648" y="1892808"/>
            <a:ext cx="2560320" cy="365760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82512" y="1938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نصوص + صور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295144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0624" y="23408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التفاعل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596896" y="2295144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23408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متعدد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462272" y="2295144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17136" y="23408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متعدد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27648" y="2295144"/>
            <a:ext cx="2560320" cy="365760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82512" y="2340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إعجاب + تعليق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2697480"/>
            <a:ext cx="2194560" cy="36576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0624" y="2743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الخوارزميات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596896" y="2697480"/>
            <a:ext cx="1828800" cy="36576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5176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ذكية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462272" y="2697480"/>
            <a:ext cx="1828800" cy="36576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17136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ذكية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27648" y="2697480"/>
            <a:ext cx="2560320" cy="365760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82512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(عمل مستقبلي)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3099816"/>
            <a:ext cx="21945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0624" y="31455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قابلية التوسع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596896" y="3099816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51760" y="3145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ضخم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462272" y="3099816"/>
            <a:ext cx="1828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17136" y="31455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ضخم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27648" y="3099816"/>
            <a:ext cx="2560320" cy="365760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82512" y="31455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تعليمي + قابل للتوسع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3502152"/>
            <a:ext cx="2194560" cy="36576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" y="354787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 الأكاديمي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596896" y="3502152"/>
            <a:ext cx="1828800" cy="36576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51760" y="3547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غير ملائم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462272" y="3502152"/>
            <a:ext cx="1828800" cy="365760"/>
          </a:xfrm>
          <a:prstGeom prst="rect">
            <a:avLst/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7136" y="35478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غير ملائم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327648" y="3502152"/>
            <a:ext cx="2560320" cy="365760"/>
          </a:xfrm>
          <a:prstGeom prst="rect">
            <a:avLst/>
          </a:prstGeom>
          <a:solidFill>
            <a:srgbClr val="EEF2FF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82512" y="35478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Full-Stack تعليمي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65760" y="40416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تحقق الأهداف: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57200" y="4407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Full-Stack مكتمل: React + Node.js + MongoDB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4800600" y="4407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ar-SA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متطلب وظيفي منجز بالكامل </a:t>
            </a: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18</a:t>
            </a:r>
          </a:p>
          <a:p>
            <a:pPr marL="0" indent="0">
              <a:buNone/>
            </a:pPr>
            <a:r>
              <a:rPr lang="ar-SA" sz="1050" dirty="0">
                <a:solidFill>
                  <a:srgbClr val="059669"/>
                </a:solidFill>
                <a:latin typeface="Calibri" pitchFamily="34" charset="0"/>
                <a:cs typeface="Calibri" pitchFamily="34" charset="-120"/>
              </a:rPr>
              <a:t>بالإضافة سيتم العمل على باقي المتطلبات </a:t>
            </a:r>
            <a:r>
              <a:rPr lang="ar-SA" sz="1050" dirty="0" err="1">
                <a:solidFill>
                  <a:srgbClr val="059669"/>
                </a:solidFill>
                <a:latin typeface="Calibri" pitchFamily="34" charset="0"/>
                <a:cs typeface="Calibri" pitchFamily="34" charset="-120"/>
              </a:rPr>
              <a:t>المزكورة</a:t>
            </a:r>
            <a:r>
              <a:rPr lang="ar-SA" sz="1050" dirty="0">
                <a:solidFill>
                  <a:srgbClr val="059669"/>
                </a:solidFill>
                <a:latin typeface="Calibri" pitchFamily="34" charset="0"/>
                <a:cs typeface="Calibri" pitchFamily="34" charset="-120"/>
              </a:rPr>
              <a:t> في هزا الفصل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457200" y="4736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نظام استجابة سريع وواجهة سهلة الاستخدام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4800600" y="47365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قابل للتوسع: إضافة ميزات مستقبلاً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54642" y="173416"/>
            <a:ext cx="7724766" cy="4970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ar-SA" sz="18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الدراسة المرجعية للفصل الحالي </a:t>
            </a:r>
            <a:r>
              <a:rPr lang="ar-SA" dirty="0"/>
              <a:t>:</a:t>
            </a:r>
          </a:p>
          <a:p>
            <a:pPr marL="0" indent="0" algn="r">
              <a:buNone/>
            </a:pPr>
            <a:br>
              <a:rPr lang="ar-SA" sz="1400" dirty="0"/>
            </a:br>
            <a:r>
              <a:rPr lang="ar-SA" sz="1400" dirty="0"/>
              <a:t>سيتم التركيز خلال هذا الفصل على دراسة الميزات المتقدمة في أنظمة التواصل الاجتماعي، بهدف الاستفادة منها في تطوير المشروع الحالي، وتشمل:</a:t>
            </a:r>
            <a:endParaRPr lang="en-US" sz="1400" dirty="0"/>
          </a:p>
          <a:p>
            <a:pPr marL="0" indent="0" algn="r">
              <a:buNone/>
            </a:pPr>
            <a:br>
              <a:rPr lang="ar-SA" sz="1400" dirty="0"/>
            </a:br>
            <a:r>
              <a:rPr lang="ar-SA" sz="1400" b="1" dirty="0"/>
              <a:t>القصص والفيديوهات القصيرة:</a:t>
            </a:r>
            <a:r>
              <a:rPr lang="ar-SA" sz="1400" dirty="0"/>
              <a:t> تسجيل المشاهدات وإضافة الموسيقى.</a:t>
            </a:r>
            <a:endParaRPr lang="en-US" sz="1400" dirty="0"/>
          </a:p>
          <a:p>
            <a:pPr marL="0" indent="0" algn="r">
              <a:buNone/>
            </a:pPr>
            <a:br>
              <a:rPr lang="ar-SA" sz="1400" dirty="0"/>
            </a:br>
            <a:r>
              <a:rPr lang="ar-SA" sz="1400" b="1" dirty="0"/>
              <a:t>تطوير المنشورات:</a:t>
            </a:r>
            <a:r>
              <a:rPr lang="ar-SA" sz="1400" dirty="0"/>
              <a:t> دراسة إنشاء الاستطلاعات وألبومات الصور، وجدولة المنشورات وحفظها كمسودات.</a:t>
            </a:r>
          </a:p>
          <a:p>
            <a:pPr marL="0" indent="0" algn="r">
              <a:buNone/>
            </a:pPr>
            <a:br>
              <a:rPr lang="ar-SA" sz="1400" dirty="0"/>
            </a:br>
            <a:r>
              <a:rPr lang="ar-SA" sz="1400" b="1" dirty="0"/>
              <a:t>التفاعل الاجتماعي:</a:t>
            </a:r>
            <a:r>
              <a:rPr lang="ar-SA" sz="1400" dirty="0"/>
              <a:t> دراسة وسم الأشخاص بالصور، وإضافة المواقع الجغرافية، وإنشاء الصفحات والمجموعات.</a:t>
            </a:r>
          </a:p>
          <a:p>
            <a:pPr marL="0" indent="0" algn="r">
              <a:buNone/>
            </a:pPr>
            <a:br>
              <a:rPr lang="ar-SA" sz="1400" dirty="0"/>
            </a:br>
            <a:r>
              <a:rPr lang="ar-SA" sz="1400" b="1" dirty="0"/>
              <a:t>الفعاليات والأحداث:</a:t>
            </a:r>
            <a:r>
              <a:rPr lang="ar-SA" sz="1400" dirty="0"/>
              <a:t> دراسة إنشاء الفعاليات وإتاحة الانضمام إليها وتحديد حالة المشاركة.</a:t>
            </a:r>
          </a:p>
          <a:p>
            <a:pPr marL="0" indent="0" algn="r">
              <a:buNone/>
            </a:pPr>
            <a:br>
              <a:rPr lang="ar-SA" sz="1400" dirty="0"/>
            </a:br>
            <a:r>
              <a:rPr lang="ar-SA" sz="1400" b="1" dirty="0"/>
              <a:t>إحصائيات المحتوى:</a:t>
            </a:r>
            <a:r>
              <a:rPr lang="ar-SA" sz="1400" dirty="0"/>
              <a:t> دراسة آليات عرض المشاهدات والوصول ومعدلات التفاعل.</a:t>
            </a:r>
          </a:p>
          <a:p>
            <a:pPr marL="0" indent="0" algn="r">
              <a:buNone/>
            </a:pPr>
            <a:br>
              <a:rPr lang="ar-SA" sz="1400" dirty="0"/>
            </a:br>
            <a:r>
              <a:rPr lang="ar-SA" sz="1400" b="1" dirty="0"/>
              <a:t>أمان الحساب:</a:t>
            </a:r>
            <a:r>
              <a:rPr lang="ar-SA" sz="1400" dirty="0"/>
              <a:t> دراسة المصادقة الثنائية وإدارة الأجهزة والجلسات النشطة.</a:t>
            </a:r>
          </a:p>
          <a:p>
            <a:pPr marL="0" indent="0" algn="r">
              <a:buNone/>
            </a:pPr>
            <a:br>
              <a:rPr lang="ar-SA" sz="1400" dirty="0"/>
            </a:br>
            <a:r>
              <a:rPr lang="ar-SA" sz="1400" b="1" dirty="0"/>
              <a:t>إدارة بيانات المستخدم:</a:t>
            </a:r>
            <a:r>
              <a:rPr lang="ar-SA" sz="1400" dirty="0"/>
              <a:t> دراسة آليات تصدير بيانات الحساب ومحتواه.</a:t>
            </a:r>
          </a:p>
          <a:p>
            <a:pPr marL="0" indent="0" algn="r">
              <a:buNone/>
            </a:pPr>
            <a:br>
              <a:rPr lang="ar-SA" sz="1400" dirty="0"/>
            </a:br>
            <a:endParaRPr lang="ar-SA" sz="1400" dirty="0"/>
          </a:p>
          <a:p>
            <a:pPr marL="0" indent="0" algn="r">
              <a:buNone/>
            </a:pPr>
            <a:r>
              <a:rPr lang="ar-SA" sz="1400" b="1" dirty="0"/>
              <a:t>الهدف:</a:t>
            </a:r>
            <a:r>
              <a:rPr lang="ar-SA" sz="1400" dirty="0"/>
              <a:t> الاستفادة من الأنظمة المشابهة والتقنيات المستخدمة فيها لتحديد أفضل الطرق لتطوير منصة التواصل الاجتماعي وإضافة المتطلبات الجديدة خلال الفصل الحالي.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1600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أسبوع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675378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02230" y="-36363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ar-SA" sz="2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متطلبات النظام التي سيتم العمل عليها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02230" y="3017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solidFill>
                <a:srgbClr val="6B728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0000"/>
                </a:solidFill>
              </a:rPr>
              <a:t>Senior -1- project requirements</a:t>
            </a:r>
          </a:p>
        </p:txBody>
      </p:sp>
      <p:sp>
        <p:nvSpPr>
          <p:cNvPr id="20" name="Shape 18"/>
          <p:cNvSpPr/>
          <p:nvPr/>
        </p:nvSpPr>
        <p:spPr>
          <a:xfrm>
            <a:off x="4709160" y="1097280"/>
            <a:ext cx="4069080" cy="3794760"/>
          </a:xfrm>
          <a:prstGeom prst="rect">
            <a:avLst/>
          </a:prstGeom>
          <a:solidFill>
            <a:srgbClr val="F8F7FF"/>
          </a:solidFill>
          <a:ln w="12700">
            <a:solidFill>
              <a:srgbClr val="818CF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097280"/>
            <a:ext cx="406908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52144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المتطلبات غير الوظيفية  (NFR)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28032" y="1645920"/>
            <a:ext cx="374904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BAE6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56048" y="17099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الأداء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170992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تحميل الصفحة خلال ثوانٍ محددة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828032" y="2249424"/>
            <a:ext cx="374904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BAE6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956048" y="231343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الاعتمادية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23134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ar-SA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 الوقت متاح</a:t>
            </a: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28032" y="2852928"/>
            <a:ext cx="374904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BAE6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956048" y="291693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الأمان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291693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تشفير BCRYPT + HTTPS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28032" y="3456432"/>
            <a:ext cx="374904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BAE6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956048" y="3520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قابلية التوسع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309360" y="3520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يتعامل مع زيادة المستخدمين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28032" y="4059936"/>
            <a:ext cx="3749040" cy="530352"/>
          </a:xfrm>
          <a:prstGeom prst="rect">
            <a:avLst/>
          </a:prstGeom>
          <a:solidFill>
            <a:srgbClr val="EEF2FF"/>
          </a:solidFill>
          <a:ln w="12700">
            <a:solidFill>
              <a:srgbClr val="BAE6FD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956048" y="412394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التوافق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309360" y="412394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يعمل على المتصفحات الحديثة</a:t>
            </a:r>
            <a:endParaRPr lang="en-US" sz="1050" dirty="0"/>
          </a:p>
        </p:txBody>
      </p:sp>
      <p:graphicFrame>
        <p:nvGraphicFramePr>
          <p:cNvPr id="10" name="جدول 10">
            <a:extLst>
              <a:ext uri="{FF2B5EF4-FFF2-40B4-BE49-F238E27FC236}">
                <a16:creationId xmlns:a16="http://schemas.microsoft.com/office/drawing/2014/main" id="{AEC3E3E2-DA6A-4072-A646-AAC4FDBCB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059921"/>
              </p:ext>
            </p:extLst>
          </p:nvPr>
        </p:nvGraphicFramePr>
        <p:xfrm>
          <a:off x="239654" y="713445"/>
          <a:ext cx="4232612" cy="438912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116306">
                  <a:extLst>
                    <a:ext uri="{9D8B030D-6E8A-4147-A177-3AD203B41FA5}">
                      <a16:colId xmlns:a16="http://schemas.microsoft.com/office/drawing/2014/main" val="561777274"/>
                    </a:ext>
                  </a:extLst>
                </a:gridCol>
                <a:gridCol w="2116306">
                  <a:extLst>
                    <a:ext uri="{9D8B030D-6E8A-4147-A177-3AD203B41FA5}">
                      <a16:colId xmlns:a16="http://schemas.microsoft.com/office/drawing/2014/main" val="833959255"/>
                    </a:ext>
                  </a:extLst>
                </a:gridCol>
              </a:tblGrid>
              <a:tr h="271728">
                <a:tc>
                  <a:txBody>
                    <a:bodyPr/>
                    <a:lstStyle/>
                    <a:p>
                      <a:pPr rtl="1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Requirements 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rtl="1"/>
                      <a:r>
                        <a:rPr lang="en-US" sz="1200" dirty="0">
                          <a:solidFill>
                            <a:schemeClr val="bg1"/>
                          </a:solidFill>
                        </a:rPr>
                        <a:t>Requirements ID</a:t>
                      </a:r>
                      <a:endParaRPr lang="ar-SA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03063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إنشاء </a:t>
                      </a:r>
                      <a:r>
                        <a:rPr lang="en-US" sz="900" b="1" dirty="0"/>
                        <a:t>stories</a:t>
                      </a:r>
                      <a:endParaRPr lang="ar-SA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900" dirty="0"/>
                        <a:t>REQ19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6366509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تسجيل مشاهدات ال</a:t>
                      </a:r>
                      <a:r>
                        <a:rPr lang="en-US" sz="900" b="1" dirty="0"/>
                        <a:t>stories</a:t>
                      </a:r>
                      <a:endParaRPr lang="ar-SA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900" dirty="0"/>
                        <a:t>REQ20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151286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رفع و نشر فيديوهات قصيرة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900" dirty="0"/>
                        <a:t>REQ21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6479842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إضافة موسيقى للفيديوهات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REQ22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9681146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إنشاء استطلاع</a:t>
                      </a:r>
                      <a:r>
                        <a:rPr lang="en-US" sz="900" b="1" dirty="0"/>
                        <a:t> pool </a:t>
                      </a:r>
                      <a:endParaRPr lang="ar-SA" sz="9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REQ23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28071924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إنشاء البومات صور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REQ24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101660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جدولة المنشورات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REQ25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1012060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حفظ المنشور كمسودة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REQ26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7814480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إضافة موقع جغرافي للمحتوى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REQ27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252694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وسم الأشخاص داخل الصور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REQ28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0433683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rtl="1"/>
                      <a:r>
                        <a:rPr lang="ar-SA" sz="900" b="1" dirty="0"/>
                        <a:t>إنشاء صفحات عامة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REQ29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7002221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إنشاء مجموعات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REQ30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034006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إنشاء </a:t>
                      </a:r>
                      <a:r>
                        <a:rPr lang="en-US" sz="9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Events</a:t>
                      </a:r>
                      <a:endParaRPr lang="ar-SA" sz="9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REQ31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7727248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الإنضمام</a:t>
                      </a:r>
                      <a:r>
                        <a:rPr lang="ar-SA" sz="9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 إلى </a:t>
                      </a:r>
                      <a:r>
                        <a:rPr lang="en-US" sz="9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Events</a:t>
                      </a:r>
                      <a:endParaRPr lang="ar-SA" sz="9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REQ32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774629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إحصائيات المحتوى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REQ33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8745789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المصادقة الثنائية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REQ34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020745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إدارة الأجهزة و الجلسات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REQ35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1528419"/>
                  </a:ext>
                </a:extLst>
              </a:tr>
              <a:tr h="226440">
                <a:tc>
                  <a:txBody>
                    <a:bodyPr/>
                    <a:lstStyle/>
                    <a:p>
                      <a:pPr marL="0" marR="0" lvl="0" indent="0" algn="l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SA" sz="9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+mn-cs"/>
                        </a:rPr>
                        <a:t>تصدير بيانات الحساب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kumimoji="0" 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REQ36</a:t>
                      </a:r>
                      <a:endParaRPr lang="ar-SA" sz="9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2053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240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1180</Words>
  <Application>Microsoft Office PowerPoint</Application>
  <PresentationFormat>عرض على الشاشة (16:9)</PresentationFormat>
  <Paragraphs>393</Paragraphs>
  <Slides>13</Slides>
  <Notes>13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Media Platform System - Pingup</dc:title>
  <dc:subject>PptxGenJS Presentation</dc:subject>
  <dc:creator>PptxGenJS</dc:creator>
  <cp:lastModifiedBy>DELL</cp:lastModifiedBy>
  <cp:revision>31</cp:revision>
  <dcterms:created xsi:type="dcterms:W3CDTF">2026-05-30T21:42:21Z</dcterms:created>
  <dcterms:modified xsi:type="dcterms:W3CDTF">2026-10-26T16:50:53Z</dcterms:modified>
</cp:coreProperties>
</file>